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Star Chart Converter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AAACC"/>
                </a:solidFill>
              </a:rPr>
              <a:t>Complete Audit &amp; Verification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AA"/>
                </a:solidFill>
              </a:rPr>
              <a:t>Tool: Rise Athletics Star Chart Converter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204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AA"/>
                </a:solidFill>
              </a:rPr>
              <a:t>Date: April 2, 2026     |     Audited by: Jayme Gibson + Claude (Anthropic)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572000"/>
            <a:ext cx="8531352" cy="548640"/>
          </a:xfrm>
          <a:prstGeom prst="rect">
            <a:avLst/>
          </a:prstGeom>
          <a:solidFill>
            <a:srgbClr val="E8F5ED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4617720"/>
            <a:ext cx="8348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7A3C"/>
                </a:solidFill>
              </a:rPr>
              <a:t>FINAL RESULT: PASSED — All tests cleared. Zero errors across all audits.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CC"/>
                </a:solidFill>
              </a:rPr>
              <a:t>Summary of all stress tests and audits performed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2002536" cy="347472"/>
          </a:xfrm>
          <a:prstGeom prst="rect">
            <a:avLst/>
          </a:prstGeom>
          <a:solidFill>
            <a:srgbClr val="2D2D4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088136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051560"/>
            <a:ext cx="2185416" cy="347472"/>
          </a:xfrm>
          <a:prstGeom prst="rect">
            <a:avLst/>
          </a:prstGeom>
          <a:solidFill>
            <a:srgbClr val="2D2D4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32304" y="1088136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Scope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051560"/>
            <a:ext cx="2916936" cy="347472"/>
          </a:xfrm>
          <a:prstGeom prst="rect">
            <a:avLst/>
          </a:prstGeom>
          <a:solidFill>
            <a:srgbClr val="2D2D4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6864" y="1088136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Data 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051560"/>
            <a:ext cx="1362456" cy="347472"/>
          </a:xfrm>
          <a:prstGeom prst="rect">
            <a:avLst/>
          </a:prstGeom>
          <a:solidFill>
            <a:srgbClr val="2D2D4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52944" y="1088136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Gyms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051560"/>
            <a:ext cx="1636776" cy="347472"/>
          </a:xfrm>
          <a:prstGeom prst="rect">
            <a:avLst/>
          </a:prstGeom>
          <a:solidFill>
            <a:srgbClr val="2D2D4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24544" y="1088136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399031"/>
            <a:ext cx="200253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" y="1435607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Stress Test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1399031"/>
            <a:ext cx="218541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32304" y="1435607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Level 1, 6 classes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399031"/>
            <a:ext cx="291693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1435607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All scores filled (100%)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1399031"/>
            <a:ext cx="136245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52944" y="1435607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All 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1399031"/>
            <a:ext cx="163677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24544" y="1435607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7A3C"/>
                </a:solidFill>
              </a:rPr>
              <a:t>PASS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1746504"/>
            <a:ext cx="2002536" cy="347472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" y="1783080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Stress Test 1B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1746504"/>
            <a:ext cx="2185416" cy="347472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32304" y="1783080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Level 1, 6 classes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1746504"/>
            <a:ext cx="2916936" cy="347472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1783080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Mixed scores + mastery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1746504"/>
            <a:ext cx="1362456" cy="347472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52944" y="1783080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All 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1746504"/>
            <a:ext cx="1636776" cy="347472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24544" y="1783080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7A3C"/>
                </a:solidFill>
              </a:rPr>
              <a:t>PASS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093976"/>
            <a:ext cx="200253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2130552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Stress Test 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77440" y="2093976"/>
            <a:ext cx="218541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32304" y="2130552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All 7 programs, 47 pages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2093976"/>
            <a:ext cx="291693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26864" y="2130552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Real eval data, 216 students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79" y="2093976"/>
            <a:ext cx="136245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52944" y="2130552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CRR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69680" y="2093976"/>
            <a:ext cx="163677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24544" y="2130552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0 mismatches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2441448"/>
            <a:ext cx="2002536" cy="347472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4" y="2478024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10-Gym Cross-Check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77440" y="2441448"/>
            <a:ext cx="2185416" cy="347472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32304" y="2478024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All 7 programs, 47 pages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2441448"/>
            <a:ext cx="2916936" cy="347472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26864" y="2478024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Real eval data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98079" y="2441448"/>
            <a:ext cx="1362456" cy="347472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2478024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All 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69680" y="2441448"/>
            <a:ext cx="1636776" cy="347472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24544" y="2478024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7A3C"/>
                </a:solidFill>
              </a:rPr>
              <a:t>IDENTICAL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71600" y="3474720"/>
            <a:ext cx="9445752" cy="502920"/>
          </a:xfrm>
          <a:prstGeom prst="rect">
            <a:avLst/>
          </a:prstGeom>
          <a:solidFill>
            <a:srgbClr val="E8F5ED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63040" y="3520439"/>
            <a:ext cx="9262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7A3C"/>
                </a:solidFill>
              </a:rPr>
              <a:t>Grand Total: 11,132+ individual data points verified. Zero errors.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4160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</a:rPr>
              <a:t>Score Rendering Rules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4526280"/>
            <a:ext cx="3191256" cy="292608"/>
          </a:xfrm>
          <a:prstGeom prst="rect">
            <a:avLst/>
          </a:prstGeom>
          <a:solidFill>
            <a:srgbClr val="2D2D4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0624" y="4562856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Spreadsheet Value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66160" y="4526280"/>
            <a:ext cx="2734056" cy="292608"/>
          </a:xfrm>
          <a:prstGeom prst="rect">
            <a:avLst/>
          </a:prstGeom>
          <a:solidFill>
            <a:srgbClr val="2D2D4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21024" y="4562856"/>
            <a:ext cx="2633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Renders As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4526280"/>
            <a:ext cx="3191256" cy="292608"/>
          </a:xfrm>
          <a:prstGeom prst="rect">
            <a:avLst/>
          </a:prstGeom>
          <a:solidFill>
            <a:srgbClr val="2D2D4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64224" y="4562856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4818888"/>
            <a:ext cx="319125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0624" y="4855464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Blank cell (criteria row)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566160" y="4818888"/>
            <a:ext cx="273405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21024" y="4855464"/>
            <a:ext cx="2633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Empty grey circle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4818888"/>
            <a:ext cx="319125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64224" y="4855464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Not Yet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5111496"/>
            <a:ext cx="3191256" cy="292608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0624" y="5148072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1 in a criteria row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66160" y="5111496"/>
            <a:ext cx="2734056" cy="292608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21024" y="5148072"/>
            <a:ext cx="2633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Filled colored star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09360" y="5111496"/>
            <a:ext cx="3191256" cy="292608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64224" y="5148072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Earned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5404104"/>
            <a:ext cx="319125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20624" y="5440680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1 in the mastery / 3x in a row row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566160" y="5404104"/>
            <a:ext cx="273405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21024" y="5440680"/>
            <a:ext cx="2633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Gold star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309360" y="5404104"/>
            <a:ext cx="319125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64224" y="5440680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Skill Complete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" y="5696712"/>
            <a:ext cx="3191256" cy="292608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20624" y="5733288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Blank in mastery row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566160" y="5696712"/>
            <a:ext cx="2734056" cy="292608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21024" y="5733288"/>
            <a:ext cx="2633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Empty grey circle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309360" y="5696712"/>
            <a:ext cx="3191256" cy="292608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364224" y="5733288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Not Yet / Not Mastered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</a:rPr>
              <a:t>* Student names: First Name + Last Initial only  |  * A/B splits render as separate pages  |  * Class names normalized from iClassPro format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Stress Test 1 — Level 1, All Criteria Filled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Purpose: Verify that when all criteria are earned (no blanks, no mastery), every star renders correctly, gym branding is correct, class names parse correctly, and A/B split logic 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</a:rPr>
              <a:t>Spreadsheet: Stress Test 1 - Level1 Full Scores No Signoff.xlsx  |  Score Pattern: All criteria = 1, all mastery = blank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4105656" cy="301752"/>
          </a:xfrm>
          <a:prstGeom prst="rect">
            <a:avLst/>
          </a:prstGeom>
          <a:solidFill>
            <a:srgbClr val="2D2D4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773936"/>
            <a:ext cx="4005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737360"/>
            <a:ext cx="1819656" cy="301752"/>
          </a:xfrm>
          <a:prstGeom prst="rect">
            <a:avLst/>
          </a:prstGeom>
          <a:solidFill>
            <a:srgbClr val="2D2D4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1773936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Students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737360"/>
            <a:ext cx="5477256" cy="301752"/>
          </a:xfrm>
          <a:prstGeom prst="rect">
            <a:avLst/>
          </a:prstGeom>
          <a:solidFill>
            <a:srgbClr val="2D2D4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773936"/>
            <a:ext cx="5376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Score Pattern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39112"/>
            <a:ext cx="4105656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2075688"/>
            <a:ext cx="4005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Level 1  |  Monday  |  3:30pm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2039112"/>
            <a:ext cx="1819656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2075688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8 (test names)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039112"/>
            <a:ext cx="5477256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2075688"/>
            <a:ext cx="5376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All criteria = 1, all mastery = blank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340864"/>
            <a:ext cx="4105656" cy="301752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" y="2377440"/>
            <a:ext cx="4005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Level 1  |  Monday  |  4:30pm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2340864"/>
            <a:ext cx="1819656" cy="301752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5424" y="2377440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8 (real names)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340864"/>
            <a:ext cx="5477256" cy="301752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377440"/>
            <a:ext cx="5376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All criteria = 1, all mastery = blank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642615"/>
            <a:ext cx="4105656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2679191"/>
            <a:ext cx="4005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Level 1  |  Monday  |  5:30pm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2642615"/>
            <a:ext cx="1819656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35424" y="2679191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8 (real names)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642615"/>
            <a:ext cx="5477256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2679191"/>
            <a:ext cx="5376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All criteria = 1, all mastery = blank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944368"/>
            <a:ext cx="4105656" cy="301752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2980944"/>
            <a:ext cx="4005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Level 1  |  Monday  |  6:30pm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0" y="2944368"/>
            <a:ext cx="1819656" cy="301752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35424" y="2980944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6 (real names)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944368"/>
            <a:ext cx="5477256" cy="301752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64224" y="2980944"/>
            <a:ext cx="5376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All criteria = 1, all mastery = blank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246120"/>
            <a:ext cx="4105656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" y="3282696"/>
            <a:ext cx="4005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Level 1 A  |  Monday  |  3:30pm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560" y="3246120"/>
            <a:ext cx="1819656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35424" y="3282696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8 (real names)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246120"/>
            <a:ext cx="5477256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64224" y="3282696"/>
            <a:ext cx="5376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All criteria = 1, all mastery = blank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547872"/>
            <a:ext cx="4105656" cy="301752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" y="3584448"/>
            <a:ext cx="4005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Level 1 B  |  Monday  |  3:30pm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80560" y="3547872"/>
            <a:ext cx="1819656" cy="301752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35424" y="3584448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7 (real names)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3547872"/>
            <a:ext cx="5477256" cy="301752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64224" y="3584448"/>
            <a:ext cx="5376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All criteria = 1, all mastery = blank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37033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Total: 1,980 earned (1s) + 720 blanks  |  Output: 10 gyms x 6 pages = 60 PDFs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4023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A3C"/>
                </a:solidFill>
              </a:rPr>
              <a:t>✓  All 10 gym names rendered correctly in headers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43159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A3C"/>
                </a:solidFill>
              </a:rPr>
              <a:t>✓  All 6 class names parsed and formatted correctly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460857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A3C"/>
                </a:solidFill>
              </a:rPr>
              <a:t>✓  A/B split at 3:30pm rendered as two separate pages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490118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A3C"/>
                </a:solidFill>
              </a:rPr>
              <a:t>✓  All filled stars appear in correct gym color for each gym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51937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A3C"/>
                </a:solidFill>
              </a:rPr>
              <a:t>✓  Mastery row shows empty circles where mastery = blank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A3C"/>
                </a:solidFill>
              </a:rPr>
              <a:t>✓  Student names display as first name + last initial only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57790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A3C"/>
                </a:solidFill>
              </a:rPr>
              <a:t>✓  All 60 PDFs structurally identical except gym-specific branding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solidFill>
            <a:srgbClr val="E8F5ED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6309359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A3C"/>
                </a:solidFill>
              </a:rPr>
              <a:t>STRESS TEST 1 RESULT: PASSED — 60 PDFs verified across all 10 gyms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Stress Test 1B — Level 1, Mixed Scores + Mastery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Purpose: Verify that partial scores AND mastery stars both render correctly in the same PDF — including within the same class, side by side.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</a:rPr>
              <a:t>Spreadsheet: Stress Test 1B  |  Same 6 classes and students as Stress Test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</a:rPr>
              <a:t>Score Pattern — Two Groups in Every Class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5486400" cy="1463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Students 1-4  (Partial Scores)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Criteria 1 = 1  (earned)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2432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Criteria 2 = 1  (earned)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254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Criteria 3 = blank  (not yet)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2666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Mastery row = blank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2783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40AF"/>
                </a:solidFill>
              </a:rPr>
              <a:t>PDF:  Star  Star  Circle  Circle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103120"/>
            <a:ext cx="5486400" cy="1463040"/>
          </a:xfrm>
          <a:prstGeom prst="rect">
            <a:avLst/>
          </a:prstGeom>
          <a:solidFill>
            <a:srgbClr val="E8F5ED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148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3C"/>
                </a:solidFill>
              </a:rPr>
              <a:t>Students 5-8  (Full Scores + Mastery)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4231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Criteria 1 = 1  (earned)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62432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Criteria 2 = 1  (earned)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8254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Criteria 3 = 1  (earned)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02666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Mastery row =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22783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43C"/>
                </a:solidFill>
              </a:rPr>
              <a:t>PDF:  Star  Star  Star  GOLD Star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7033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Total: 1,890 earned (1s) + 810 blanks  |  Output: 10 gyms x 6 pages = 60 PDFs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023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A3C"/>
                </a:solidFill>
              </a:rPr>
              <a:t>✓  Partial scores: C1 and C2 show as filled stars; C3 and mastery show as circles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3159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A3C"/>
                </a:solidFill>
              </a:rPr>
              <a:t>✓  Full scores + mastery: all three criteria show as filled stars; mastery shows as gold star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60857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A3C"/>
                </a:solidFill>
              </a:rPr>
              <a:t>✓  Gold stars are visually distinct from regular colored stars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9011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A3C"/>
                </a:solidFill>
              </a:rPr>
              <a:t>✓  Mixed scoring within the same class renders correctly — different students, different patterns, same page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193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A3C"/>
                </a:solidFill>
              </a:rPr>
              <a:t>✓  All 10 gyms consistent. All 60 PDFs verified.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solidFill>
            <a:srgbClr val="E8F5ED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309359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A3C"/>
                </a:solidFill>
              </a:rPr>
              <a:t>STRESS TEST 1B RESULT: PASSED — Mixed scores and mastery stars verified across all 10 gyms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Stress Test 3 — Real Eval Data, All Programs, Full Visual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Purpose: The most rigorous test. Real iClassPro eval data from an actual eval date. Cell-by-cell visual audit of every star and circle in the output PDF vs. the source spreadsheet.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</a:rPr>
              <a:t>Source: Real CRR iClassPro export, April 2, 2026  |  Output: CRR_Evals_04022026.pdf (47 pages)  |  Audit: 47 PNG images compared cell-by-cell. No cells skipped.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636776" cy="329184"/>
          </a:xfrm>
          <a:prstGeom prst="rect">
            <a:avLst/>
          </a:prstGeom>
          <a:solidFill>
            <a:srgbClr val="2D2D4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728216"/>
            <a:ext cx="153619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Program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691640"/>
            <a:ext cx="996696" cy="329184"/>
          </a:xfrm>
          <a:prstGeom prst="rect">
            <a:avLst/>
          </a:prstGeom>
          <a:solidFill>
            <a:srgbClr val="2D2D4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66544" y="1728216"/>
            <a:ext cx="8961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Classes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691640"/>
            <a:ext cx="1636776" cy="329184"/>
          </a:xfrm>
          <a:prstGeom prst="rect">
            <a:avLst/>
          </a:prstGeom>
          <a:solidFill>
            <a:srgbClr val="2D2D4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72384" y="1728216"/>
            <a:ext cx="153619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691640"/>
            <a:ext cx="1088136" cy="329184"/>
          </a:xfrm>
          <a:prstGeom prst="rect">
            <a:avLst/>
          </a:prstGeom>
          <a:solidFill>
            <a:srgbClr val="2D2D4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4" y="1728216"/>
            <a:ext cx="98755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Students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691640"/>
            <a:ext cx="1453896" cy="329184"/>
          </a:xfrm>
          <a:prstGeom prst="rect">
            <a:avLst/>
          </a:prstGeom>
          <a:solidFill>
            <a:srgbClr val="2D2D4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4" y="1728216"/>
            <a:ext cx="13533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Skills/Student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1691640"/>
            <a:ext cx="1636776" cy="329184"/>
          </a:xfrm>
          <a:prstGeom prst="rect">
            <a:avLst/>
          </a:prstGeom>
          <a:solidFill>
            <a:srgbClr val="2D2D4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78624" y="1728216"/>
            <a:ext cx="153619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Data Points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691640"/>
            <a:ext cx="1453896" cy="329184"/>
          </a:xfrm>
          <a:prstGeom prst="rect">
            <a:avLst/>
          </a:prstGeom>
          <a:solidFill>
            <a:srgbClr val="2D2D4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24544" y="1728216"/>
            <a:ext cx="13533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Mismatches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020824"/>
            <a:ext cx="163677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2057400"/>
            <a:ext cx="153619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Preschool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0" y="2020824"/>
            <a:ext cx="99669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66544" y="2057400"/>
            <a:ext cx="8961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020824"/>
            <a:ext cx="163677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72384" y="2057400"/>
            <a:ext cx="153619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7 (with splits)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020824"/>
            <a:ext cx="108813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18304" y="2057400"/>
            <a:ext cx="98755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2020824"/>
            <a:ext cx="145389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15584" y="2057400"/>
            <a:ext cx="13533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44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3760" y="2020824"/>
            <a:ext cx="163677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78624" y="2057400"/>
            <a:ext cx="153619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1,144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69680" y="2020824"/>
            <a:ext cx="145389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24544" y="2057400"/>
            <a:ext cx="13533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7A3C"/>
                </a:solidFill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350008"/>
            <a:ext cx="1636776" cy="329184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" y="2386584"/>
            <a:ext cx="153619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Junior 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11680" y="2350008"/>
            <a:ext cx="996696" cy="329184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66544" y="2386584"/>
            <a:ext cx="8961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2350008"/>
            <a:ext cx="1636776" cy="329184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72384" y="2386584"/>
            <a:ext cx="153619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6 (with splits)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2350008"/>
            <a:ext cx="1088136" cy="329184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2386584"/>
            <a:ext cx="98755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28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720" y="2350008"/>
            <a:ext cx="1453896" cy="329184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15584" y="2386584"/>
            <a:ext cx="13533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48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0" y="2350008"/>
            <a:ext cx="1636776" cy="329184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78624" y="2386584"/>
            <a:ext cx="153619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1,344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69680" y="2350008"/>
            <a:ext cx="1453896" cy="329184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24544" y="2386584"/>
            <a:ext cx="13533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7A3C"/>
                </a:solidFill>
              </a:rPr>
              <a:t>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2679192"/>
            <a:ext cx="163677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0624" y="2715768"/>
            <a:ext cx="153619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Junior 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11680" y="2679192"/>
            <a:ext cx="99669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66544" y="2715768"/>
            <a:ext cx="8961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17520" y="2679192"/>
            <a:ext cx="163677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072384" y="2715768"/>
            <a:ext cx="153619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6 (with splits)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63440" y="2679192"/>
            <a:ext cx="108813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2715768"/>
            <a:ext cx="98755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23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60720" y="2679192"/>
            <a:ext cx="145389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15584" y="2715768"/>
            <a:ext cx="13533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48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23760" y="2679192"/>
            <a:ext cx="163677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78624" y="2715768"/>
            <a:ext cx="153619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1,104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869680" y="2679192"/>
            <a:ext cx="145389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24544" y="2715768"/>
            <a:ext cx="13533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7A3C"/>
                </a:solidFill>
              </a:rPr>
              <a:t>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008376"/>
            <a:ext cx="1636776" cy="329184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0624" y="3044952"/>
            <a:ext cx="153619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Advanced Junior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11680" y="3008376"/>
            <a:ext cx="996696" cy="329184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66544" y="3044952"/>
            <a:ext cx="8961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008376"/>
            <a:ext cx="1636776" cy="329184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72384" y="3044952"/>
            <a:ext cx="153619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663440" y="3008376"/>
            <a:ext cx="1088136" cy="329184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718304" y="3044952"/>
            <a:ext cx="98755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760720" y="3008376"/>
            <a:ext cx="1453896" cy="329184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15584" y="3044952"/>
            <a:ext cx="13533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58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23760" y="3008376"/>
            <a:ext cx="1636776" cy="329184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78624" y="3044952"/>
            <a:ext cx="153619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290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869680" y="3008376"/>
            <a:ext cx="1453896" cy="329184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24544" y="3044952"/>
            <a:ext cx="13533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7A3C"/>
                </a:solidFill>
              </a:rPr>
              <a:t>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3337560"/>
            <a:ext cx="163677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20624" y="3374136"/>
            <a:ext cx="153619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Level 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11680" y="3337560"/>
            <a:ext cx="99669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66544" y="3374136"/>
            <a:ext cx="8961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017520" y="3337560"/>
            <a:ext cx="163677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072384" y="3374136"/>
            <a:ext cx="153619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7 (with splits)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663440" y="3337560"/>
            <a:ext cx="108813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18304" y="3374136"/>
            <a:ext cx="98755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47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760720" y="3337560"/>
            <a:ext cx="145389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815584" y="3374136"/>
            <a:ext cx="13533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58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223760" y="3337560"/>
            <a:ext cx="163677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278624" y="3374136"/>
            <a:ext cx="153619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2,726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869680" y="3337560"/>
            <a:ext cx="145389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24544" y="3374136"/>
            <a:ext cx="13533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7A3C"/>
                </a:solidFill>
              </a:rPr>
              <a:t>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5760" y="3666744"/>
            <a:ext cx="1636776" cy="329184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20624" y="3703320"/>
            <a:ext cx="153619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Level 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011680" y="3666744"/>
            <a:ext cx="996696" cy="329184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066544" y="3703320"/>
            <a:ext cx="8961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3666744"/>
            <a:ext cx="1636776" cy="329184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72384" y="3703320"/>
            <a:ext cx="153619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9 (with splits)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63440" y="3666744"/>
            <a:ext cx="1088136" cy="329184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703320"/>
            <a:ext cx="98755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40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760720" y="3666744"/>
            <a:ext cx="1453896" cy="329184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815584" y="3703320"/>
            <a:ext cx="13533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52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223760" y="3666744"/>
            <a:ext cx="1636776" cy="329184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278624" y="3703320"/>
            <a:ext cx="153619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2,080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869680" y="3666744"/>
            <a:ext cx="1453896" cy="329184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924544" y="3703320"/>
            <a:ext cx="13533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7A3C"/>
                </a:solidFill>
              </a:rPr>
              <a:t>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65760" y="3995928"/>
            <a:ext cx="163677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20624" y="4032504"/>
            <a:ext cx="153619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Level 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011680" y="3995928"/>
            <a:ext cx="99669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066544" y="4032504"/>
            <a:ext cx="8961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95928"/>
            <a:ext cx="163677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72384" y="4032504"/>
            <a:ext cx="153619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10 (with splits)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63440" y="3995928"/>
            <a:ext cx="108813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032504"/>
            <a:ext cx="98755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47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760720" y="3995928"/>
            <a:ext cx="145389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815584" y="4032504"/>
            <a:ext cx="13533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52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223760" y="3995928"/>
            <a:ext cx="163677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278624" y="4032504"/>
            <a:ext cx="153619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2,444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869680" y="3995928"/>
            <a:ext cx="145389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924544" y="4032504"/>
            <a:ext cx="13533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7A3C"/>
                </a:solidFill>
              </a:rPr>
              <a:t>0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325112"/>
            <a:ext cx="1636776" cy="329184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20624" y="4361688"/>
            <a:ext cx="153619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</a:rPr>
              <a:t>TOTAL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011680" y="4325112"/>
            <a:ext cx="996696" cy="329184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066544" y="4361688"/>
            <a:ext cx="8961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30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017520" y="4325112"/>
            <a:ext cx="1636776" cy="329184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072384" y="4361688"/>
            <a:ext cx="153619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47 pages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63440" y="4325112"/>
            <a:ext cx="1088136" cy="329184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361688"/>
            <a:ext cx="98755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216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760720" y="4325112"/>
            <a:ext cx="1453896" cy="329184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815584" y="4361688"/>
            <a:ext cx="13533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223760" y="4325112"/>
            <a:ext cx="1636776" cy="329184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278624" y="4361688"/>
            <a:ext cx="153619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11,132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869680" y="4325112"/>
            <a:ext cx="1453896" cy="329184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924544" y="4361688"/>
            <a:ext cx="13533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7A3C"/>
                </a:solidFill>
              </a:rPr>
              <a:t>0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solidFill>
            <a:srgbClr val="E8F5ED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57200" y="6309359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A3C"/>
                </a:solidFill>
              </a:rPr>
              <a:t>STRESS TEST 3 RESULT: 11,132 data points audited. ZERO errors. Every PDF matches its source spreadsheet exactly.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10-Gym 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Purpose: Confirm that the same eval data processed through all 10 gyms produces structurally identical output with only gym-specific branding differing.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</a:rPr>
              <a:t>Method: Python/PyMuPDF extracted all text from all 47 pages of each gym PDF. Gym name headers stripped. Content compared page-by-page against CRR baseline.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737360"/>
            <a:ext cx="905256" cy="320040"/>
          </a:xfrm>
          <a:prstGeom prst="rect">
            <a:avLst/>
          </a:prstGeom>
          <a:solidFill>
            <a:srgbClr val="2D2D4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26464" y="1773936"/>
            <a:ext cx="804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737360"/>
            <a:ext cx="3191256" cy="320040"/>
          </a:xfrm>
          <a:prstGeom prst="rect">
            <a:avLst/>
          </a:prstGeom>
          <a:solidFill>
            <a:srgbClr val="2D2D4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40864" y="1773936"/>
            <a:ext cx="3090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Gym Name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37360"/>
            <a:ext cx="905256" cy="320040"/>
          </a:xfrm>
          <a:prstGeom prst="rect">
            <a:avLst/>
          </a:prstGeom>
          <a:solidFill>
            <a:srgbClr val="2D2D4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41264" y="1773936"/>
            <a:ext cx="804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737360"/>
            <a:ext cx="1362456" cy="320040"/>
          </a:xfrm>
          <a:prstGeom prst="rect">
            <a:avLst/>
          </a:prstGeom>
          <a:solidFill>
            <a:srgbClr val="2D2D4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773936"/>
            <a:ext cx="12618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Name Correct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737360"/>
            <a:ext cx="1819656" cy="320040"/>
          </a:xfrm>
          <a:prstGeom prst="rect">
            <a:avLst/>
          </a:prstGeom>
          <a:solidFill>
            <a:srgbClr val="2D2D4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27264" y="1773936"/>
            <a:ext cx="17190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vs. Baseline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2057400"/>
            <a:ext cx="90525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26464" y="2093976"/>
            <a:ext cx="804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CCP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2057400"/>
            <a:ext cx="319125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40864" y="2093976"/>
            <a:ext cx="3090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Capital Gymnastics — Cedar Park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2057400"/>
            <a:ext cx="90525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41264" y="2093976"/>
            <a:ext cx="804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47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057400"/>
            <a:ext cx="136245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2093976"/>
            <a:ext cx="12618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7A3C"/>
                </a:solidFill>
              </a:rPr>
              <a:t>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2057400"/>
            <a:ext cx="181965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27264" y="2093976"/>
            <a:ext cx="17190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7A3C"/>
                </a:solidFill>
              </a:rPr>
              <a:t>IDENTICAL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2377439"/>
            <a:ext cx="90525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6464" y="2414015"/>
            <a:ext cx="804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CPF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2377439"/>
            <a:ext cx="319125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40864" y="2414015"/>
            <a:ext cx="3090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Capital Gymnastics — Pflugerville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0" y="2377439"/>
            <a:ext cx="90525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41264" y="2414015"/>
            <a:ext cx="804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47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377439"/>
            <a:ext cx="136245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2414015"/>
            <a:ext cx="12618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7A3C"/>
                </a:solidFill>
              </a:rPr>
              <a:t>YES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2377439"/>
            <a:ext cx="181965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27264" y="2414015"/>
            <a:ext cx="17190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7A3C"/>
                </a:solidFill>
              </a:rPr>
              <a:t>IDENTICAL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2697479"/>
            <a:ext cx="90525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26464" y="2734056"/>
            <a:ext cx="804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CRR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2697479"/>
            <a:ext cx="319125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40864" y="2734056"/>
            <a:ext cx="3090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Capital Gymnastics — Round Rock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0" y="2697479"/>
            <a:ext cx="90525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41264" y="2734056"/>
            <a:ext cx="804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47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697479"/>
            <a:ext cx="136245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55664" y="2734056"/>
            <a:ext cx="12618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7A3C"/>
                </a:solidFill>
              </a:rPr>
              <a:t>YES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2697479"/>
            <a:ext cx="181965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27264" y="2734056"/>
            <a:ext cx="17190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7A3C"/>
                </a:solidFill>
              </a:rPr>
              <a:t>BASELINE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71600" y="3017520"/>
            <a:ext cx="90525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26464" y="3054096"/>
            <a:ext cx="804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EST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0" y="3017520"/>
            <a:ext cx="319125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40864" y="3054096"/>
            <a:ext cx="3090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Estrella Gymnastics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0" y="3017520"/>
            <a:ext cx="90525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41264" y="3054096"/>
            <a:ext cx="804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47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3017520"/>
            <a:ext cx="136245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55664" y="3054096"/>
            <a:ext cx="12618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7A3C"/>
                </a:solidFill>
              </a:rPr>
              <a:t>YES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0" y="3017520"/>
            <a:ext cx="181965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27264" y="3054096"/>
            <a:ext cx="17190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7A3C"/>
                </a:solidFill>
              </a:rPr>
              <a:t>IDENTICAL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0" y="3337560"/>
            <a:ext cx="90525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426464" y="3374136"/>
            <a:ext cx="804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HGA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0" y="3337560"/>
            <a:ext cx="319125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340864" y="3374136"/>
            <a:ext cx="3090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Houston Gymnastics Academy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0" y="3337560"/>
            <a:ext cx="90525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41264" y="3374136"/>
            <a:ext cx="804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47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3337560"/>
            <a:ext cx="136245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55664" y="3374136"/>
            <a:ext cx="12618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7A3C"/>
                </a:solidFill>
              </a:rPr>
              <a:t>YES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0" y="3337560"/>
            <a:ext cx="181965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27264" y="3374136"/>
            <a:ext cx="17190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7A3C"/>
                </a:solidFill>
              </a:rPr>
              <a:t>IDENTICAL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371600" y="3657599"/>
            <a:ext cx="90525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26464" y="3694175"/>
            <a:ext cx="804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OAS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86000" y="3657599"/>
            <a:ext cx="319125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40864" y="3694175"/>
            <a:ext cx="3090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Oasis Gymnastics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0" y="3657599"/>
            <a:ext cx="90525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41264" y="3694175"/>
            <a:ext cx="804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47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00800" y="3657599"/>
            <a:ext cx="136245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55664" y="3694175"/>
            <a:ext cx="12618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7A3C"/>
                </a:solidFill>
              </a:rPr>
              <a:t>YES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772400" y="3657599"/>
            <a:ext cx="181965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827264" y="3694175"/>
            <a:ext cx="17190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7A3C"/>
                </a:solidFill>
              </a:rPr>
              <a:t>IDENTICAL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371600" y="3977639"/>
            <a:ext cx="90525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426464" y="4014215"/>
            <a:ext cx="804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RBA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86000" y="3977639"/>
            <a:ext cx="319125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340864" y="4014215"/>
            <a:ext cx="3090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Rowland Ballard — Atascocita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0" y="3977639"/>
            <a:ext cx="90525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541264" y="4014215"/>
            <a:ext cx="804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47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0" y="3977639"/>
            <a:ext cx="136245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55664" y="4014215"/>
            <a:ext cx="12618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7A3C"/>
                </a:solidFill>
              </a:rPr>
              <a:t>YES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72400" y="3977639"/>
            <a:ext cx="181965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827264" y="4014215"/>
            <a:ext cx="17190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7A3C"/>
                </a:solidFill>
              </a:rPr>
              <a:t>IDENTICAL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371600" y="4297679"/>
            <a:ext cx="90525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426464" y="4334255"/>
            <a:ext cx="804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RBK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0" y="4297679"/>
            <a:ext cx="319125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340864" y="4334255"/>
            <a:ext cx="3090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Rowland Ballard — Kingwood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86400" y="4297679"/>
            <a:ext cx="90525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541264" y="4334255"/>
            <a:ext cx="804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47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400800" y="4297679"/>
            <a:ext cx="136245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55664" y="4334255"/>
            <a:ext cx="12618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7A3C"/>
                </a:solidFill>
              </a:rPr>
              <a:t>YES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772400" y="4297679"/>
            <a:ext cx="181965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827264" y="4334255"/>
            <a:ext cx="17190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7A3C"/>
                </a:solidFill>
              </a:rPr>
              <a:t>IDENTICAL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371600" y="4617720"/>
            <a:ext cx="90525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426464" y="4654296"/>
            <a:ext cx="804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SGT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286000" y="4617720"/>
            <a:ext cx="319125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340864" y="4654296"/>
            <a:ext cx="3090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Scottsdale Gymnastics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486400" y="4617720"/>
            <a:ext cx="90525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541264" y="4654296"/>
            <a:ext cx="804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47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00800" y="4617720"/>
            <a:ext cx="136245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55664" y="4654296"/>
            <a:ext cx="12618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7A3C"/>
                </a:solidFill>
              </a:rPr>
              <a:t>YES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772400" y="4617720"/>
            <a:ext cx="181965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827264" y="4654296"/>
            <a:ext cx="17190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7A3C"/>
                </a:solidFill>
              </a:rPr>
              <a:t>IDENTICAL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371600" y="4937760"/>
            <a:ext cx="90525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426464" y="4974336"/>
            <a:ext cx="804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TIG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286000" y="4937760"/>
            <a:ext cx="319125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340864" y="4974336"/>
            <a:ext cx="3090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Tigar Gymnastics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486400" y="4937760"/>
            <a:ext cx="90525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541264" y="4974336"/>
            <a:ext cx="8046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47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400800" y="4937760"/>
            <a:ext cx="136245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455664" y="4974336"/>
            <a:ext cx="12618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7A3C"/>
                </a:solidFill>
              </a:rPr>
              <a:t>YES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772400" y="4937760"/>
            <a:ext cx="181965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827264" y="4974336"/>
            <a:ext cx="17190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7A3C"/>
                </a:solidFill>
              </a:rPr>
              <a:t>IDENTICAL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65760" y="57607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* EST (Estrella): Navy + Grey only — no red. Special branding handled correctly.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65760" y="59893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* Branding colors not captured by text extraction — star colors visually confirmed during Stress Tests 1 and 1B.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6291072"/>
            <a:ext cx="11430000" cy="457200"/>
          </a:xfrm>
          <a:prstGeom prst="rect">
            <a:avLst/>
          </a:prstGeom>
          <a:solidFill>
            <a:srgbClr val="E8F5ED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63367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A3C"/>
                </a:solidFill>
              </a:rPr>
              <a:t>10-GYM RESULT: All 10 gyms — 47 pages each — identical structure. Only gym name header differs.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Program Name Reference — What the Converter Accepts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CC"/>
                </a:solidFill>
              </a:rPr>
              <a:t>Internal reference. Case-insensitive, substring matching. Pipes stripped by iClassPro on export.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</a:rPr>
              <a:t>Accepted Keywords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294376" cy="320040"/>
          </a:xfrm>
          <a:prstGeom prst="rect">
            <a:avLst/>
          </a:prstGeom>
          <a:solidFill>
            <a:srgbClr val="2D2D4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08176"/>
            <a:ext cx="519379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Keyword(s) in iClassPro class name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371600"/>
            <a:ext cx="2002536" cy="320040"/>
          </a:xfrm>
          <a:prstGeom prst="rect">
            <a:avLst/>
          </a:prstGeom>
          <a:solidFill>
            <a:srgbClr val="2D2D4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24144" y="1408176"/>
            <a:ext cx="190195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Resolves 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529437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" y="1728216"/>
            <a:ext cx="519379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PRESCHOOL / PRE-SCHOOL / PRE SCHOOL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1691640"/>
            <a:ext cx="200253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24144" y="1728216"/>
            <a:ext cx="190195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Preschool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11680"/>
            <a:ext cx="529437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" y="2048256"/>
            <a:ext cx="519379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JUNIOR / JR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011680"/>
            <a:ext cx="200253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24144" y="2048256"/>
            <a:ext cx="190195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Junior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331720"/>
            <a:ext cx="529437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" y="2368296"/>
            <a:ext cx="519379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ADVANCED JUNIOR / ADV JUNIOR / ADV JR / ADVJR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2331720"/>
            <a:ext cx="200253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24144" y="2368296"/>
            <a:ext cx="190195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Advanced Junior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651760"/>
            <a:ext cx="529437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" y="2688336"/>
            <a:ext cx="519379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LEVEL 1 / LVL 1 / LEV1 / L1 / GIRLS LEVEL 1 / GIRLS L1 / GL1 / GIRLS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2651760"/>
            <a:ext cx="200253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688336"/>
            <a:ext cx="190195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Level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971800"/>
            <a:ext cx="529437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3008376"/>
            <a:ext cx="519379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LEVEL 2 / LVL 2 / LEV2 / L2 / GIRLS LEVEL 2 / GIRLS L2 / GL2 / GIRLS 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2971800"/>
            <a:ext cx="200253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24144" y="3008376"/>
            <a:ext cx="190195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Level 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291839"/>
            <a:ext cx="529437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3328415"/>
            <a:ext cx="519379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LEVEL 3 / LVL 3 / LEV3 / L3 / GIRLS LEVEL 3 / GIRLS L3 / GL3 / GIRLS 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3291839"/>
            <a:ext cx="2002536" cy="320040"/>
          </a:xfrm>
          <a:prstGeom prst="rect">
            <a:avLst/>
          </a:prstGeom>
          <a:solidFill>
            <a:srgbClr val="F7F7F9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24144" y="3328415"/>
            <a:ext cx="190195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Level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10058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91C1C"/>
                </a:solidFill>
              </a:rPr>
              <a:t>What Gets Silently Skipped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137160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91C1C"/>
                </a:solidFill>
              </a:rPr>
              <a:t>✗  Recreational / Rec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169164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91C1C"/>
                </a:solidFill>
              </a:rPr>
              <a:t>✗  Tots / Tiny Tots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201168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91C1C"/>
                </a:solidFill>
              </a:rPr>
              <a:t>✗  Youth / Beginner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233172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91C1C"/>
                </a:solidFill>
              </a:rPr>
              <a:t>✗  Tumbling / Tumble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265176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91C1C"/>
                </a:solidFill>
              </a:rPr>
              <a:t>✗  Boys / MAG / Mens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297180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91C1C"/>
                </a:solidFill>
              </a:rPr>
              <a:t>✗  Teen / Adult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3291839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91C1C"/>
                </a:solidFill>
              </a:rPr>
              <a:t>✗  Cheer / Acro / Dance / Ninja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3611879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91C1C"/>
                </a:solidFill>
              </a:rPr>
              <a:t>✗  Level 4+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393192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91C1C"/>
                </a:solidFill>
              </a:rPr>
              <a:t>✗  Level I / II / III (roman numerals)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425196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91C1C"/>
                </a:solidFill>
              </a:rPr>
              <a:t>✗  Ages 3-5 / coach name only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36576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2400E"/>
                </a:solidFill>
              </a:rPr>
              <a:t>Known Risks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023360"/>
            <a:ext cx="11430000" cy="548640"/>
          </a:xfrm>
          <a:prstGeom prst="rect">
            <a:avLst/>
          </a:prstGeom>
          <a:solidFill>
            <a:srgbClr val="FFFBEB"/>
          </a:solidFill>
          <a:ln w="9525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40690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2400E"/>
                </a:solidFill>
              </a:rPr>
              <a:t>Silent wrong match — more dangerous than a skip. "Junior 2" contains "junior" so it maps to Junior program, not Level 2. PDF generates with wrong skills. Manager has no idea. Always use the full program keyword.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663440"/>
            <a:ext cx="11430000" cy="457200"/>
          </a:xfrm>
          <a:prstGeom prst="rect">
            <a:avLst/>
          </a:prstGeom>
          <a:solidFill>
            <a:srgbClr val="FFFBEB"/>
          </a:solidFill>
          <a:ln w="9525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47091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2400E"/>
                </a:solidFill>
              </a:rPr>
              <a:t>Adding a new alias — update BOTH files: api/pdf_generator.py (PROGRAM_ALIASES) AND public/index.html (PROGRAM_MAP). Missing one means local and production behave differently.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Final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5ED"/>
                </a:solidFill>
              </a:rPr>
              <a:t>✓  All 10 Rise Athletics gyms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27632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5ED"/>
                </a:solidFill>
              </a:rPr>
              <a:t>✓  All 7 programs (Preschool, Junior A, Junior B, Advanced Junior, Level 1, Level 2, Level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66543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5ED"/>
                </a:solidFill>
              </a:rPr>
              <a:t>✓  All score types: blank (not yet), earned (star), mastery (gold star)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05456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5ED"/>
                </a:solidFill>
              </a:rPr>
              <a:t>✓  Mixed scoring within a single class — different students, different patterns, same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44368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5ED"/>
                </a:solidFill>
              </a:rPr>
              <a:t>✓  Over-capacity multi-page classes (pg 1/2 and pg 2/2 splits)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5ED"/>
                </a:solidFill>
              </a:rPr>
              <a:t>✓  A/B/C class splits at the same time 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22191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5ED"/>
                </a:solidFill>
              </a:rPr>
              <a:t>✓  Real student data from actual iClassPro eval exports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61104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5ED"/>
                </a:solidFill>
              </a:rPr>
              <a:t>✓  11,132+ individual data points verified cell-by-cell against source spreadsheet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00016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5ED"/>
                </a:solidFill>
              </a:rPr>
              <a:t>✓  Zero errors found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989320"/>
            <a:ext cx="10360152" cy="640080"/>
          </a:xfrm>
          <a:prstGeom prst="rect">
            <a:avLst/>
          </a:prstGeom>
          <a:solidFill>
            <a:srgbClr val="E8F5ED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6035040"/>
            <a:ext cx="10177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7A3C"/>
                </a:solidFill>
              </a:rPr>
              <a:t>The Star Chart Converter is verified and ready for production use across all 10 gyms.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